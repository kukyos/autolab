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4846320"/>
            <a:ext cx="4023360" cy="4023360"/>
          </a:xfrm>
          <a:prstGeom prst="roundRect">
            <a:avLst>
              <a:gd name="adj" fmla="val 2045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NO. 04  •  WEB TECHNOLOGY LAB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Webpage Design Using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CSS3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corners  •  Border images  •  Multiple backgrounds  •  Background sizing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Pseudo-classes  •  Adjacent sibling selector  •  nth-child()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800600"/>
            <a:ext cx="1280160" cy="0"/>
          </a:xfrm>
          <a:prstGeom prst="line">
            <a:avLst/>
          </a:prstGeom>
          <a:noFill/>
          <a:ln w="38100">
            <a:solidFill>
              <a:srgbClr val="E89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029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A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Objective: Understand how advanced CSS3 properties and selectors create interactive, visually attractive webpages.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6B7A8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57276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04088" y="219456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Rounded Corners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4088" y="257860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4992" y="13716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6B7A8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57276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 Images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66160" y="257860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border-image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27064" y="13716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6B7A85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28232" y="157276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28232" y="219456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Backgrounds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28232" y="257860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background-image (comma list)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89136" y="13716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6B7A8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90304" y="157276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0304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90304" y="219456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Size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90304" y="257860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 / contain / fixed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227832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6B7A8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" y="342900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4088" y="405079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Pseudo-Classes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04088" y="443484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:focus :required :valid :invalid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64992" y="3227832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6B7A85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66160" y="342900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566160" y="405079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Adjacent Sibling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566160" y="443484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 combinator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27064" y="3227832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6B7A85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28232" y="342900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428232" y="405079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nth-child()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428232" y="443484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odd / even striping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89136" y="3227832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90304" y="33741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290304" y="3666744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HTML page that demonstrates all seven CSS3 features together.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CSS3?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(Cascading Style Sheets) controls the appearance and layout of HTML webpages — HTML builds the structure, CSS styles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074920" cy="3017520"/>
          </a:xfrm>
          <a:prstGeom prst="roundRect">
            <a:avLst>
              <a:gd name="adj" fmla="val 3030"/>
            </a:avLst>
          </a:prstGeom>
          <a:solidFill>
            <a:srgbClr val="CFE8F0"/>
          </a:solidFill>
          <a:ln w="12700">
            <a:solidFill>
              <a:srgbClr val="E1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6B7A85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92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Defines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04495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Creates elements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5753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&lt;div&gt;, &lt;table&gt;, &lt;form&gt;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10565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52160" y="1691640"/>
            <a:ext cx="5074920" cy="3017520"/>
          </a:xfrm>
          <a:prstGeom prst="roundRect">
            <a:avLst>
              <a:gd name="adj" fmla="val 303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25400" dir="5400000">
              <a:srgbClr val="6B7A85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892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9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17920" y="25146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Defines presentation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304495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Styles elements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35753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color, border, background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410565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Appearance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983480"/>
            <a:ext cx="10424160" cy="1463040"/>
          </a:xfrm>
          <a:prstGeom prst="roundRect">
            <a:avLst>
              <a:gd name="adj" fmla="val 500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48072"/>
            <a:ext cx="99669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&lt;p&gt;Hello World&lt;/p&gt;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blue;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20px;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ROUNDED CORNERS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border-radius Property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the corners of an element's outer border edge. Accepts one value (all four corners) or four values, in order: top-left → top-right → bottom-right → bottom-left.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5852160" cy="3108960"/>
          </a:xfrm>
          <a:prstGeom prst="roundRect">
            <a:avLst>
              <a:gd name="adj" fmla="val 2353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59152"/>
            <a:ext cx="539496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.rounded-box {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300px;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15px;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#cde9f6;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2px solid #2b7a9e;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15px 50px 30px 5px;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2084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Result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1645920"/>
            <a:ext cx="4023360" cy="2377440"/>
          </a:xfrm>
          <a:prstGeom prst="roundRect">
            <a:avLst>
              <a:gd name="adj" fmla="val 15385"/>
            </a:avLst>
          </a:prstGeom>
          <a:solidFill>
            <a:srgbClr val="CFE8F0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15px 50px 30px 5px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4251960"/>
          <a:ext cx="4937760" cy="173736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border-radius: 25px;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25px radius on all four corners.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border-radius: 15px 50px 30px 5px;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TL=15px, TR=50px, BR=30px, BL=5px.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ROUNDED CORNERS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Four-Value Corner Order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border-radius: 15px 50px 30px 5px;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480560" y="2011680"/>
            <a:ext cx="3200400" cy="2560320"/>
          </a:xfrm>
          <a:prstGeom prst="roundRect">
            <a:avLst>
              <a:gd name="adj" fmla="val 12500"/>
            </a:avLst>
          </a:prstGeom>
          <a:solidFill>
            <a:srgbClr val="CFE8F0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51760" y="169164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15px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51760" y="21305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18120" y="169164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50px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18120" y="21305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18120" y="406908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E8933D"/>
          </a:solidFill>
          <a:ln w="12700">
            <a:solidFill>
              <a:srgbClr val="E89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4142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30px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18120" y="4507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Bottom-Right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51760" y="406908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4142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5px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51760" y="4507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Bottom-Left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5074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to remember: Top-Left → Top-Right → Bottom-Right → Bottom-Left (clockwise, starting top-left).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uses:  Cards   •   Buttons   •   Login boxes   •   Profile images   •   Navigation menus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BORDER IMAGE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an Image as a Border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border: 2px solid black;  CSS3 lets an image take the place of the normal border style, defined in three parts.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6B7A8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4520" y="2039112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border-image-source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used as the border.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60520" y="178308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6B7A85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32120" y="2039112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4340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border-image-slice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3246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points at which the source image is sliced.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18120" y="178308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6B7A85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89720" y="2039112"/>
            <a:ext cx="640080" cy="640080"/>
          </a:xfrm>
          <a:prstGeom prst="ellipse">
            <a:avLst/>
          </a:prstGeom>
          <a:solidFill>
            <a:srgbClr val="E8933D"/>
          </a:solidFill>
          <a:ln w="12700">
            <a:solidFill>
              <a:srgbClr val="E89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00100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border-image-repeat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3246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middle sections round, stretch, or repeat to fill the space.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343400"/>
            <a:ext cx="10424160" cy="1737360"/>
          </a:xfrm>
          <a:prstGeom prst="roundRect">
            <a:avLst>
              <a:gd name="adj" fmla="val 4211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507992"/>
            <a:ext cx="996696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.border-img-box {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300px;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25px solid transparent;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border-image: url(border.png) 30 round;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BORDER IMAGE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border-image: url(border.png) 30 round;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url(border.png)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77640" y="1463040"/>
            <a:ext cx="502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77640" y="14630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17720" y="146304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used for the border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77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77640" y="2377440"/>
            <a:ext cx="502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3774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17720" y="237744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377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value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29184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91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77640" y="3291840"/>
            <a:ext cx="502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32918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17720" y="329184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291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the image around the border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98280" y="1417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— the image file must exist in the project folder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98280" y="201168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1214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project/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webpage.html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border.png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4160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 Decorative boxes   •   Certificates   •   Game interfaces   •   Creative web designs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846320"/>
            <a:ext cx="10424160" cy="1417320"/>
          </a:xfrm>
          <a:prstGeom prst="roundRect">
            <a:avLst>
              <a:gd name="adj" fmla="val 5161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010912"/>
            <a:ext cx="99669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.border-img-box {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25px solid transparent;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border-image: url(border.png) 30 round;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MULTIPLE BACKGROUNDS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 More Than One Background Image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allows several background-image values, separated by commas. They stack with the first-listed image closest to the viewer.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5760720" cy="3108960"/>
          </a:xfrm>
          <a:prstGeom prst="roundRect">
            <a:avLst>
              <a:gd name="adj" fmla="val 2353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67712"/>
            <a:ext cx="530352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#example1 {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400px;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200px;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background-image: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url(img_flwr.gif),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url(paper.gif);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208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06640" y="169164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0" y="205740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2423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img_flwr.gif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(closest to viewer)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18120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paper.gif (behind)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Multiple background images are separated using a comma.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MULTIPLE BACKGROUNDS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Controlling Each Layer Independently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background-position and background-repeat also take a comma-separated list — one value per image.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4572000" cy="3566160"/>
          </a:xfrm>
          <a:prstGeom prst="roundRect">
            <a:avLst>
              <a:gd name="adj" fmla="val 2051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56232"/>
            <a:ext cx="411480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background-position: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right bottom,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 top;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background-repeat: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no-repeat,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repeat;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691640"/>
          <a:ext cx="5394960" cy="137160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img_flwr.gif (1st)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bottom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no-repeat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paper.gif (2nd)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394960" y="32918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0F5F1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40680" y="3337560"/>
            <a:ext cx="822960" cy="566928"/>
          </a:xfrm>
          <a:prstGeom prst="rect">
            <a:avLst/>
          </a:prstGeom>
          <a:solidFill>
            <a:srgbClr val="E6EFE8"/>
          </a:solidFill>
          <a:ln w="6350">
            <a:solidFill>
              <a:srgbClr val="DCE7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36792" y="3337560"/>
            <a:ext cx="822960" cy="566928"/>
          </a:xfrm>
          <a:prstGeom prst="rect">
            <a:avLst/>
          </a:prstGeom>
          <a:solidFill>
            <a:srgbClr val="E6EFE8"/>
          </a:solidFill>
          <a:ln w="6350">
            <a:solidFill>
              <a:srgbClr val="DCE7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32904" y="3337560"/>
            <a:ext cx="822960" cy="566928"/>
          </a:xfrm>
          <a:prstGeom prst="rect">
            <a:avLst/>
          </a:prstGeom>
          <a:solidFill>
            <a:srgbClr val="E6EFE8"/>
          </a:solidFill>
          <a:ln w="6350">
            <a:solidFill>
              <a:srgbClr val="DCE7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29016" y="3337560"/>
            <a:ext cx="822960" cy="566928"/>
          </a:xfrm>
          <a:prstGeom prst="rect">
            <a:avLst/>
          </a:prstGeom>
          <a:solidFill>
            <a:srgbClr val="E6EFE8"/>
          </a:solidFill>
          <a:ln w="6350">
            <a:solidFill>
              <a:srgbClr val="DCE7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025128" y="3337560"/>
            <a:ext cx="822960" cy="566928"/>
          </a:xfrm>
          <a:prstGeom prst="rect">
            <a:avLst/>
          </a:prstGeom>
          <a:solidFill>
            <a:srgbClr val="E6EFE8"/>
          </a:solidFill>
          <a:ln w="6350">
            <a:solidFill>
              <a:srgbClr val="DCE7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921240" y="3337560"/>
            <a:ext cx="822960" cy="566928"/>
          </a:xfrm>
          <a:prstGeom prst="rect">
            <a:avLst/>
          </a:prstGeom>
          <a:solidFill>
            <a:srgbClr val="E6EFE8"/>
          </a:solidFill>
          <a:ln w="6350">
            <a:solidFill>
              <a:srgbClr val="DCE7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40680" y="3977640"/>
            <a:ext cx="822960" cy="566928"/>
          </a:xfrm>
          <a:prstGeom prst="rect">
            <a:avLst/>
          </a:prstGeom>
          <a:solidFill>
            <a:srgbClr val="E6EFE8"/>
          </a:solidFill>
          <a:ln w="6350">
            <a:solidFill>
              <a:srgbClr val="DCE7D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36792" y="3977640"/>
            <a:ext cx="822960" cy="566928"/>
          </a:xfrm>
          <a:prstGeom prst="rect">
            <a:avLst/>
          </a:prstGeom>
          <a:solidFill>
            <a:srgbClr val="E6EFE8"/>
          </a:solidFill>
          <a:ln w="6350">
            <a:solidFill>
              <a:srgbClr val="DCE7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32904" y="3977640"/>
            <a:ext cx="822960" cy="566928"/>
          </a:xfrm>
          <a:prstGeom prst="rect">
            <a:avLst/>
          </a:prstGeom>
          <a:solidFill>
            <a:srgbClr val="E6EFE8"/>
          </a:solidFill>
          <a:ln w="6350">
            <a:solidFill>
              <a:srgbClr val="DCE7D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29016" y="3977640"/>
            <a:ext cx="822960" cy="566928"/>
          </a:xfrm>
          <a:prstGeom prst="rect">
            <a:avLst/>
          </a:prstGeom>
          <a:solidFill>
            <a:srgbClr val="E6EFE8"/>
          </a:solidFill>
          <a:ln w="6350">
            <a:solidFill>
              <a:srgbClr val="DCE7D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3977640"/>
            <a:ext cx="822960" cy="566928"/>
          </a:xfrm>
          <a:prstGeom prst="rect">
            <a:avLst/>
          </a:prstGeom>
          <a:solidFill>
            <a:srgbClr val="E6EFE8"/>
          </a:solidFill>
          <a:ln w="6350">
            <a:solidFill>
              <a:srgbClr val="DCE7D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921240" y="3977640"/>
            <a:ext cx="822960" cy="566928"/>
          </a:xfrm>
          <a:prstGeom prst="rect">
            <a:avLst/>
          </a:prstGeom>
          <a:solidFill>
            <a:srgbClr val="E6EFE8"/>
          </a:solidFill>
          <a:ln w="6350">
            <a:solidFill>
              <a:srgbClr val="DCE7D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40680" y="4617720"/>
            <a:ext cx="822960" cy="566928"/>
          </a:xfrm>
          <a:prstGeom prst="rect">
            <a:avLst/>
          </a:prstGeom>
          <a:solidFill>
            <a:srgbClr val="E6EFE8"/>
          </a:solidFill>
          <a:ln w="6350">
            <a:solidFill>
              <a:srgbClr val="DCE7D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36792" y="4617720"/>
            <a:ext cx="822960" cy="566928"/>
          </a:xfrm>
          <a:prstGeom prst="rect">
            <a:avLst/>
          </a:prstGeom>
          <a:solidFill>
            <a:srgbClr val="E6EFE8"/>
          </a:solidFill>
          <a:ln w="6350">
            <a:solidFill>
              <a:srgbClr val="DCE7D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32904" y="4617720"/>
            <a:ext cx="822960" cy="566928"/>
          </a:xfrm>
          <a:prstGeom prst="rect">
            <a:avLst/>
          </a:prstGeom>
          <a:solidFill>
            <a:srgbClr val="E6EFE8"/>
          </a:solidFill>
          <a:ln w="6350">
            <a:solidFill>
              <a:srgbClr val="DCE7D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29016" y="4617720"/>
            <a:ext cx="822960" cy="566928"/>
          </a:xfrm>
          <a:prstGeom prst="rect">
            <a:avLst/>
          </a:prstGeom>
          <a:solidFill>
            <a:srgbClr val="E6EFE8"/>
          </a:solidFill>
          <a:ln w="6350">
            <a:solidFill>
              <a:srgbClr val="DCE7D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025128" y="4617720"/>
            <a:ext cx="822960" cy="566928"/>
          </a:xfrm>
          <a:prstGeom prst="rect">
            <a:avLst/>
          </a:prstGeom>
          <a:solidFill>
            <a:srgbClr val="E6EFE8"/>
          </a:solidFill>
          <a:ln w="6350">
            <a:solidFill>
              <a:srgbClr val="DCE7D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921240" y="4617720"/>
            <a:ext cx="822960" cy="566928"/>
          </a:xfrm>
          <a:prstGeom prst="rect">
            <a:avLst/>
          </a:prstGeom>
          <a:solidFill>
            <a:srgbClr val="E6EFE8"/>
          </a:solidFill>
          <a:ln w="6350">
            <a:solidFill>
              <a:srgbClr val="DCE7D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84080" y="4480560"/>
            <a:ext cx="777240" cy="658368"/>
          </a:xfrm>
          <a:prstGeom prst="ellipse">
            <a:avLst/>
          </a:prstGeom>
          <a:solidFill>
            <a:srgbClr val="E89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784080" y="448056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🌸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548640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paper.gif tiled (repeat)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394960" y="53492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flower: bottom-right, no-repeat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02920" y="5760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uploaded lab example demonstrates exactly this combination.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BACKGROUND SIZE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background-size Property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size of a background image — in fixed lengths/percentages, or with the keywords cover and contain.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56232"/>
            <a:ext cx="466344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#div1 {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300px;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150px;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url(img_flower.jpg);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background-size: 100px 80px;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background-repeat: no-repeat;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100px → Width      80px → Height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691640"/>
            <a:ext cx="27432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5B71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03720" y="2011680"/>
            <a:ext cx="914400" cy="731520"/>
          </a:xfrm>
          <a:prstGeom prst="rect">
            <a:avLst/>
          </a:prstGeom>
          <a:solidFill>
            <a:srgbClr val="E8933D"/>
          </a:solidFill>
          <a:ln w="12700">
            <a:solidFill>
              <a:srgbClr val="E89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2011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🌼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9893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300×150 box, image fixed at 100×80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Values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2057400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2084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81160" y="22951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100px 80px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144000" y="2651760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26791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281160" y="2889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box, may crop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00" y="3246120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32735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281160" y="34838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fully, may letterbox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BACKGROUND SIZE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vs. contain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background-size: cover;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7889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(scaled to fully cover box —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may be cropped)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background-size: contain;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73736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4F8FA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514600"/>
            <a:ext cx="4754880" cy="1554480"/>
          </a:xfrm>
          <a:prstGeom prst="round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251460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(fits fully inside,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 preserved)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50749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— scales the image to completely fill the container, cropping if needed.   contain — fits the whole image inside the container, preserving its aspect ratio.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PSEUDO-CLASSES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Styling by State, Not Position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pseudo-class styles an element based on its current state rather than where it sits in the document tree.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7863840" cy="2743200"/>
        </p:xfrm>
        <a:graphic>
          <a:graphicData uri="http://schemas.openxmlformats.org/drawingml/2006/table">
            <a:tbl>
              <a:tblPr/>
              <a:tblGrid>
                <a:gridCol w="1737360"/>
                <a:gridCol w="6126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Pseudo-class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:focus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input that currently has keyboard focus.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:required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form field that has the required attribute.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:valid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form field whose current value passes validation.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:invalid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form field whose current value fails validation (e.g. a badly formed e-mail).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:hover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element the mouse pointer is currently over.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68680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686800" y="2057400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5B71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23960" y="2057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Name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focus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686800" y="3200400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E9FFE9"/>
          </a:solidFill>
          <a:ln w="31750">
            <a:solidFill>
              <a:srgbClr val="D645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23960" y="3200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Name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68680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focus (:focus applied)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4663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 selector:pseudo-class { property: value; }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PSEUDO-CLASSES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:focus and :required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029200" cy="4023360"/>
          </a:xfrm>
          <a:prstGeom prst="roundRect">
            <a:avLst>
              <a:gd name="adj" fmla="val 1818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36192"/>
            <a:ext cx="457200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input:focus {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3px solid red;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#e9ffe9;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input:required {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3px solid blue;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lightyellow;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52160" y="13716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Steps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82880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81051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into the Name text box.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0" y="2395728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23774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gives the field keyboard focus.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52160" y="2962656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944368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:focus CSS rule activates — red border, green tint.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52160" y="3529584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3511296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required Name field also shows a blue border with yellow tint until it is filled in.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52160" y="434340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DE7"/>
          </a:solidFill>
          <a:ln w="31750">
            <a:solidFill>
              <a:srgbClr val="3D5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(required):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35040" y="4754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blue border · yellow tint until filled ]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PSEUDO-CLASSES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Validation: :valid and :invalid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provides built-in input validation. CSS can respond to whether the current value is valid or invalid.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4754880" cy="2926080"/>
          </a:xfrm>
          <a:prstGeom prst="roundRect">
            <a:avLst>
              <a:gd name="adj" fmla="val 250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56232"/>
            <a:ext cx="429768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input[type="email"]:invalid {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red;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input[type="email"]:valid {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blue;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0" y="182880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150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27432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:invalid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7150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0" y="36118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D64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3611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text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15400" y="182880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0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abc@gmail.com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154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15400" y="27432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:valid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154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15400" y="36118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3611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text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4892040"/>
            <a:ext cx="10424160" cy="1371600"/>
          </a:xfrm>
          <a:prstGeom prst="roundRect">
            <a:avLst>
              <a:gd name="adj" fmla="val 5333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056632"/>
            <a:ext cx="99669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type="email" placeholder="name@example.com"&gt;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ADJACENT SIBLING SELECTOR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+ Combinator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an element that comes immediately after another specified element, where both share the same parent.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029200" cy="2926080"/>
          </a:xfrm>
          <a:prstGeom prst="roundRect">
            <a:avLst>
              <a:gd name="adj" fmla="val 250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01952"/>
            <a:ext cx="457200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 {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property: value;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meaning: */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select B only when it   */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immediately follows A   */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52160" y="1737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219456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809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9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412480" y="219456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412480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52160" y="379476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886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.itemName:hover + .itemImg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opacity: 1;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5029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lab: hovering over .itemName reveals its adjacent .itemImg by animating opacity from 0.2 → 1.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ADJACENT SIBLING SELECTOR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Example: Hover to Reveal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577840" cy="3108960"/>
          </a:xfrm>
          <a:prstGeom prst="roundRect">
            <a:avLst>
              <a:gd name="adj" fmla="val 2353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36192"/>
            <a:ext cx="512064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 class="itemName"&gt;item1&lt;/td&gt;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 class="itemImg"&gt;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src="item1.jpg" width="60"&gt;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.itemImg { opacity: 0.2; }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.itemName:hover + .itemImg { opacity: 1; 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5508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Comparison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37960" y="2194560"/>
            <a:ext cx="14630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7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83880" y="2194560"/>
            <a:ext cx="1463040" cy="54864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5B718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18388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(opacity 0.2)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355080" y="306324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CFE8F0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hover over item1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37960" y="3474720"/>
            <a:ext cx="1463040" cy="548640"/>
          </a:xfrm>
          <a:prstGeom prst="round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474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item1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83880" y="3474720"/>
            <a:ext cx="146304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3474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(opacity 1)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47091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transition: opacity 0.3s ease;  gives the reveal a smooth fade instead of an instant jump.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NTH-CHILD()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by Position Among Siblings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:nth-child() matches elements based on their position among siblings. The keywords odd and even match alternating elements — ideal for striped table rows.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4846320" cy="2286000"/>
          </a:xfrm>
          <a:prstGeom prst="roundRect">
            <a:avLst>
              <a:gd name="adj" fmla="val 320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39112"/>
            <a:ext cx="438912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selector:nth-child(number)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tr:nth-child(odd) {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gray;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806440" y="187452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CFE8F0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selected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2450592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2450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0" y="2450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3026664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CFE8F0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30266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0" y="30266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selected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3602736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6027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4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0" y="3602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434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rows (1, 3, 5 …) are selected by :nth-child(odd); even rows (2, 4, 6 …) by :nth-child(even).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983480"/>
            <a:ext cx="10424160" cy="1280160"/>
          </a:xfrm>
          <a:prstGeom prst="roundRect">
            <a:avLst>
              <a:gd name="adj" fmla="val 5714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148072"/>
            <a:ext cx="9966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#stripedTable tr:nth-child(odd)  { background-color: #f2f2f2; }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#stripedTable tr:nth-child(even) { background-color: #dbeeff; }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#stripedTable tr:hover           { background-color: #ffd966; }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NTH-CHILD()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Striped Table with Hover Highlight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hover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42062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— odd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377440"/>
            <a:ext cx="4206240" cy="502920"/>
          </a:xfrm>
          <a:prstGeom prst="rect">
            <a:avLst/>
          </a:prstGeom>
          <a:solidFill>
            <a:srgbClr val="DBEEFF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77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 — even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42062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971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 — odd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566160"/>
            <a:ext cx="4206240" cy="502920"/>
          </a:xfrm>
          <a:prstGeom prst="rect">
            <a:avLst/>
          </a:prstGeom>
          <a:solidFill>
            <a:srgbClr val="DBEEFF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66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4 — even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5216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over Row 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1783080"/>
            <a:ext cx="42062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783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— odd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52160" y="2377440"/>
            <a:ext cx="4206240" cy="502920"/>
          </a:xfrm>
          <a:prstGeom prst="rect">
            <a:avLst/>
          </a:prstGeom>
          <a:solidFill>
            <a:srgbClr val="DBEEFF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377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 — even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852160" y="2971800"/>
            <a:ext cx="4206240" cy="502920"/>
          </a:xfrm>
          <a:prstGeom prst="rect">
            <a:avLst/>
          </a:prstGeom>
          <a:solidFill>
            <a:srgbClr val="FFD966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971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 ← hover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52160" y="3566160"/>
            <a:ext cx="4206240" cy="502920"/>
          </a:xfrm>
          <a:prstGeom prst="rect">
            <a:avLst/>
          </a:prstGeom>
          <a:solidFill>
            <a:srgbClr val="DBEEFF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3566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4 — even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52160" y="2971800"/>
            <a:ext cx="4206240" cy="0"/>
          </a:xfrm>
          <a:prstGeom prst="line">
            <a:avLst/>
          </a:prstGeom>
          <a:noFill/>
          <a:ln w="31750">
            <a:solidFill>
              <a:srgbClr val="E893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48056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645152"/>
            <a:ext cx="44805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id="stripedTable"&gt;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&lt;tr&gt;&lt;td&gt;Row 1&lt;/td&gt;&lt;/tr&gt;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&lt;tr&gt;&lt;td&gt;Row 2&lt;/td&gt;&lt;/tr&gt;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&lt;tr&gt;&lt;td&gt;Row 3&lt;/td&gt;&lt;/tr&gt;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&lt;tr&gt;&lt;td&gt;Row 4&lt;/td&gt;&lt;/tr&gt;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52160" y="44805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Summary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35040" y="4892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Alternating grey / light-blue rows for readability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35040" y="5349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Row under the cursor turns amber/yellow on hover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035040" y="5806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extra HTML classes needed — pure CSS selectors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Seven Concepts Connect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66360" y="1234440"/>
            <a:ext cx="1828800" cy="1828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66360" y="12344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420624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2C3B78"/>
          </a:solidFill>
          <a:ln w="12700">
            <a:solidFill>
              <a:srgbClr val="2C3B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206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97280" y="470916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2C3B78"/>
          </a:solidFill>
          <a:ln w="12700">
            <a:solidFill>
              <a:srgbClr val="2C3B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709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border-image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0" y="2606040"/>
            <a:ext cx="0" cy="914400"/>
          </a:xfrm>
          <a:prstGeom prst="line">
            <a:avLst/>
          </a:prstGeom>
          <a:noFill/>
          <a:ln w="19050">
            <a:solidFill>
              <a:srgbClr val="E8933D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709160" y="35204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92040" y="420624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2C3B78"/>
          </a:solidFill>
          <a:ln w="12700">
            <a:solidFill>
              <a:srgbClr val="2C3B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4206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layers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92040" y="470916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2C3B78"/>
          </a:solidFill>
          <a:ln w="12700">
            <a:solidFill>
              <a:srgbClr val="2C3B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4709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background-size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2606040"/>
            <a:ext cx="0" cy="914400"/>
          </a:xfrm>
          <a:prstGeom prst="line">
            <a:avLst/>
          </a:prstGeom>
          <a:noFill/>
          <a:ln w="19050">
            <a:solidFill>
              <a:srgbClr val="E8933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503920" y="35204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Selectors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686800" y="420624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2C3B78"/>
          </a:solidFill>
          <a:ln w="12700">
            <a:solidFill>
              <a:srgbClr val="2C3B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4206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Pseudo-classes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86800" y="470916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2C3B78"/>
          </a:solidFill>
          <a:ln w="12700">
            <a:solidFill>
              <a:srgbClr val="2C3B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4709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(+)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86800" y="521208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2C3B78"/>
          </a:solidFill>
          <a:ln w="12700">
            <a:solidFill>
              <a:srgbClr val="2C3B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5212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nth-child()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875520" y="2606040"/>
            <a:ext cx="0" cy="914400"/>
          </a:xfrm>
          <a:prstGeom prst="line">
            <a:avLst/>
          </a:prstGeom>
          <a:noFill/>
          <a:ln w="19050">
            <a:solidFill>
              <a:srgbClr val="E8933D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55448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49047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border-radius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rounded corners.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55448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149047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border-image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12280" y="1828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 image as a border.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542032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" y="2724912"/>
            <a:ext cx="457200" cy="457200"/>
          </a:xfrm>
          <a:prstGeom prst="ellipse">
            <a:avLst/>
          </a:prstGeom>
          <a:solidFill>
            <a:srgbClr val="E8933D"/>
          </a:solidFill>
          <a:ln w="12700">
            <a:solidFill>
              <a:srgbClr val="E89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66090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backgrounds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0160" y="29992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several images behind one element.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542032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2724912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266090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background-size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12280" y="29992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background image dimensions (cover / contain).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712464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3895344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383133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Pseudo-classes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80160" y="41696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:focus, :required, :valid, :invalid, :hover respond to element state.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3712464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9632" y="3895344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12280" y="383133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Adjacent sibling (A + B)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812280" y="41696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element immediately following another.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882896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" y="5065776"/>
            <a:ext cx="457200" cy="457200"/>
          </a:xfrm>
          <a:prstGeom prst="ellipse">
            <a:avLst/>
          </a:prstGeom>
          <a:solidFill>
            <a:srgbClr val="E8933D"/>
          </a:solidFill>
          <a:ln w="12700">
            <a:solidFill>
              <a:srgbClr val="E893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80160" y="500176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nth-child()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280160" y="53400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elements by position — e.g. odd/even table striping.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Viva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51560" y="1298448"/>
            <a:ext cx="10607040" cy="566928"/>
          </a:xfrm>
          <a:prstGeom prst="roundRect">
            <a:avLst>
              <a:gd name="adj" fmla="val 11290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2984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border-radius with one value and with four values?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51560" y="1984248"/>
            <a:ext cx="10607040" cy="566928"/>
          </a:xfrm>
          <a:prstGeom prst="roundRect">
            <a:avLst>
              <a:gd name="adj" fmla="val 11290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9842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three components required to define a border-image.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69748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51560" y="2670048"/>
            <a:ext cx="10607040" cy="566928"/>
          </a:xfrm>
          <a:prstGeom prst="roundRect">
            <a:avLst>
              <a:gd name="adj" fmla="val 11290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2670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specify more than one background image for a single element in CSS?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38328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51560" y="3355848"/>
            <a:ext cx="10607040" cy="566928"/>
          </a:xfrm>
          <a:prstGeom prst="roundRect">
            <a:avLst>
              <a:gd name="adj" fmla="val 11290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33558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the cover and contain keywords in background-size?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06908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1560" y="4041648"/>
            <a:ext cx="10607040" cy="566928"/>
          </a:xfrm>
          <a:prstGeom prst="roundRect">
            <a:avLst>
              <a:gd name="adj" fmla="val 11290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40416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the :valid and :invalid pseudo-classes?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475488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51560" y="4727448"/>
            <a:ext cx="10607040" cy="566928"/>
          </a:xfrm>
          <a:prstGeom prst="roundRect">
            <a:avLst>
              <a:gd name="adj" fmla="val 11290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7274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adjacent sibling combinator (+) with an example.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544068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51560" y="5413248"/>
            <a:ext cx="10607040" cy="566928"/>
          </a:xfrm>
          <a:prstGeom prst="roundRect">
            <a:avLst>
              <a:gd name="adj" fmla="val 11290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54132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select every third row of a table using nth-child?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754880"/>
            <a:ext cx="3657600" cy="36576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Turn: Build webpage.html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6974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webpage.html and embed the CSS3 rules inside a &lt;style&gt; block.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401568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01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335584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border.png, img_flwr.gif, paper.gif, img_flower.jpg and item1.jpg in the same folder (or substitute your own images).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059936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59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4014216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 in a browser and verify each of the seven features.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718304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718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4672584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viva questions to confirm your understanding.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56692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A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single webpage demonstrating rounded corners, border images, multiple backgrounds, background sizing, pseudo-classes, and the adjacent-sibling and nth-child selectors.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2026-08-19T04:56:56Z</dcterms:created>
  <dcterms:modified xsi:type="dcterms:W3CDTF">2026-08-19T04:56:56Z</dcterms:modified>
</cp:coreProperties>
</file>