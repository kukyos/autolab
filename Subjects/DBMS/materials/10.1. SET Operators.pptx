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1" r:id="rId22"/>
    <p:sldId id="282" r:id="rId23"/>
    <p:sldId id="283" r:id="rId24"/>
    <p:sldId id="284" r:id="rId25"/>
    <p:sldId id="28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E46D2-8DC2-49D2-8125-935869204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A0A51-E41B-4EC5-A72F-BD24D2B43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FB11-3ECE-476B-9C21-13F2AF7AD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B4875-FC7D-480E-829C-8295C08074FE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80F30-DF5B-4DF9-9AD8-C25D02F06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C56BD-C4A3-4279-9FFA-B61BE4F15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DEB-0A2B-47D5-A006-DEB168A3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65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A4B1B-B947-47BE-90F1-3110D0AF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EB364-41DC-421D-87AE-181DB98CE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8FB4E-35E4-4082-9EF0-B4D8027C2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B4875-FC7D-480E-829C-8295C08074FE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7EF55-8681-4F17-89A2-5F3A4A1D0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B2AC2-B8DA-4558-AD35-10A16501C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DEB-0A2B-47D5-A006-DEB168A3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79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91826-915F-43FD-ACFE-1120DDBA2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CC4EC-AD6A-4176-8E45-F75B14C0E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56456-71F6-4814-BB7B-19927FFC8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B4875-FC7D-480E-829C-8295C08074FE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7D443-C086-41B2-870E-6FACE431C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5287A-B41F-4C6A-B797-F933DF135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DEB-0A2B-47D5-A006-DEB168A3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125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198E-9433-40FE-9BB3-88272666C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CA64A-4786-400B-820B-9B457334C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353DB-1D59-40DC-BD4A-19419F9F8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5F57C-98B9-4EE9-AAC2-13C13DDD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B4875-FC7D-480E-829C-8295C08074FE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4983E-36BA-4A5F-AEE5-852809140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DAD2D-4E7C-4EAA-AACC-C446A3C95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DEB-0A2B-47D5-A006-DEB168A3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59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6C6D-D5B4-46D6-B8F2-17769EE57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52303-8B75-4CE1-8677-879BBD546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5CBB4B-34E4-4B41-A179-CAA69326A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CC6F05-27F0-4089-8BA5-3D1518CA61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62C2F4-2DEB-4CB0-99F9-14C13B04E1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4284E3-3ECA-4E3A-93EB-B325803A2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B4875-FC7D-480E-829C-8295C08074FE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94CE70-1F1E-4B44-913D-51DF6B803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733C71-EEB5-40D6-AA07-B2BC63B3B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DEB-0A2B-47D5-A006-DEB168A3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227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C846B-3CC5-4FD2-9750-ECE247669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0F90E8-45C6-44D5-928F-8DC737498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B4875-FC7D-480E-829C-8295C08074FE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6431A-34FC-4A80-9167-F5E269149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E5D90-FB43-4F0F-BF17-5AD979F0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DEB-0A2B-47D5-A006-DEB168A3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54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E2C817-FB39-4848-A145-B1A998863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B4875-FC7D-480E-829C-8295C08074FE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BE8DF6-0128-40DE-8DEA-53D70874B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70DDE-E2CB-44E9-B78B-022B681F6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DEB-0A2B-47D5-A006-DEB168A3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168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8CBB-CA42-47B7-84D4-FAEE187F7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0C4B0-1AC9-4226-A90F-E9BDD68DF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9DFAC3-3EAA-4FB4-B678-07140658C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4D2A9-AE79-44A4-B199-60E5C33C6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B4875-FC7D-480E-829C-8295C08074FE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2848-7238-4482-9781-5B4C98756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BC4A3-198C-41AD-A449-D8555F3E5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DEB-0A2B-47D5-A006-DEB168A3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77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CC5A0-5952-48D3-B634-A1A501095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901438-48E4-4404-888B-A20C66E6C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0CA48-14ED-4822-BCDF-C922AB994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C9510-4E14-4EBA-AD92-100E81454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B4875-FC7D-480E-829C-8295C08074FE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D5082-9EA2-45E0-A3D8-93D80ED3C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BCA7F-D7E2-4585-ADE4-02763F088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DEB-0A2B-47D5-A006-DEB168A3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060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6E27E-BABF-4410-B37F-621B3433F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A0F71-C63B-4046-B152-ACE8B2D22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DA728-CDF1-4101-9DB7-447FF3FEE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B4875-FC7D-480E-829C-8295C08074FE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CAE13-384A-431D-B2FD-92F105546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95685-43DA-4C1B-8909-6A8492FE9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DEB-0A2B-47D5-A006-DEB168A3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936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82D0B-2B79-462B-8444-D1B2E6BFC5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B64EF-0B0E-447B-A573-645094F76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E3E48-5950-449F-8676-B1254FF51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B4875-FC7D-480E-829C-8295C08074FE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9D63B-3925-423B-A107-F93CADB5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622A4-EF0B-44A8-8D5B-C3B513A40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DEB-0A2B-47D5-A006-DEB168A3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6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FE4560-8A57-4B34-93FF-F7E3E81A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C9EC2-5F34-49E0-A28D-A1BA458E4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C0021-B4C7-445C-905F-ADE099F31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B4875-FC7D-480E-829C-8295C08074FE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1A416-7B36-4DF9-9F43-E79D9EC90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0831A-F0DF-406A-8EED-CF73BCCFB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DEB-0A2B-47D5-A006-DEB168A3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283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5D52-9686-4661-87B7-F51969D729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5282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7" y="1542770"/>
            <a:ext cx="10515600" cy="4351338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SET operators are special type of operators which are used to </a:t>
            </a:r>
            <a:r>
              <a:rPr lang="en-US" b="0" i="1" dirty="0">
                <a:solidFill>
                  <a:srgbClr val="333333"/>
                </a:solidFill>
                <a:effectLst/>
                <a:latin typeface="inter-regular"/>
              </a:rPr>
              <a:t>combine the result of two queries.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Operators covered under SET operators are:</a:t>
            </a:r>
          </a:p>
          <a:p>
            <a:pPr algn="just">
              <a:buFont typeface="+mj-lt"/>
              <a:buAutoNum type="arabicPeriod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UNION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>
              <a:buFont typeface="+mj-lt"/>
              <a:buAutoNum type="arabicPeriod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UNION ALL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>
              <a:buFont typeface="+mj-lt"/>
              <a:buAutoNum type="arabicPeriod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INTERSECT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>
              <a:buFont typeface="+mj-lt"/>
              <a:buAutoNum type="arabicPeriod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MINUS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1A096F-8B99-43A2-8F77-E9C335888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997" y="2815203"/>
            <a:ext cx="3982006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023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DD47E3-D992-4A3B-8275-67577F197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73" y="836801"/>
            <a:ext cx="11102456" cy="609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049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FFB0D1-9B1C-4D2A-943C-2A94A04BB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54" y="478493"/>
            <a:ext cx="10223634" cy="560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05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BD9AFB-125F-4E85-A86E-8DD70681A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87" y="847168"/>
            <a:ext cx="9923037" cy="539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468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336DBA-FA3A-4038-96FB-03D5231CA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61" y="839879"/>
            <a:ext cx="10658703" cy="592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98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30" y="1072123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0" i="0" u="sng" dirty="0">
                <a:solidFill>
                  <a:srgbClr val="610B38"/>
                </a:solidFill>
                <a:effectLst/>
                <a:latin typeface="erdana"/>
              </a:rPr>
              <a:t>1. UNION</a:t>
            </a: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UNION will be used to combine the result of two select statements.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Duplicate rows will be eliminated from the results obtained after performing the UNION operation.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inter-regular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Example 1: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Write a query to perform union between the table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t_employees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and the table t2_employees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4976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30" y="1072123"/>
            <a:ext cx="10515600" cy="4351338"/>
          </a:xfrm>
        </p:spPr>
        <p:txBody>
          <a:bodyPr/>
          <a:lstStyle/>
          <a:p>
            <a:pPr marL="514350" indent="-514350" algn="ctr">
              <a:buAutoNum type="arabicPeriod"/>
            </a:pPr>
            <a:r>
              <a:rPr lang="en-US" b="0" i="0" u="sng" dirty="0">
                <a:solidFill>
                  <a:srgbClr val="610B38"/>
                </a:solidFill>
                <a:effectLst/>
                <a:latin typeface="erdana"/>
              </a:rPr>
              <a:t>UNION</a:t>
            </a:r>
          </a:p>
          <a:p>
            <a:pPr marL="0" indent="0" algn="ctr">
              <a:buNone/>
            </a:pPr>
            <a:endParaRPr lang="en-US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marL="0" indent="0" algn="ctr">
              <a:buNone/>
            </a:pPr>
            <a:endParaRPr lang="en-US" b="1" dirty="0">
              <a:solidFill>
                <a:srgbClr val="006699"/>
              </a:solidFill>
              <a:latin typeface="inter-regular"/>
            </a:endParaRPr>
          </a:p>
          <a:p>
            <a:pPr marL="0" indent="0" algn="ctr">
              <a:buNone/>
            </a:pP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*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t_employees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UNION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*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t2_employees;  </a:t>
            </a: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</p:txBody>
      </p:sp>
    </p:spTree>
    <p:extLst>
      <p:ext uri="{BB962C8B-B14F-4D97-AF65-F5344CB8AC3E}">
        <p14:creationId xmlns:p14="http://schemas.microsoft.com/office/powerpoint/2010/main" val="2167597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879988"/>
            <a:ext cx="10515600" cy="4351338"/>
          </a:xfrm>
        </p:spPr>
        <p:txBody>
          <a:bodyPr/>
          <a:lstStyle/>
          <a:p>
            <a:pPr marL="514350" indent="-514350" algn="ctr">
              <a:buAutoNum type="arabicPeriod"/>
            </a:pPr>
            <a:r>
              <a:rPr lang="en-US" b="0" i="0" u="sng" dirty="0">
                <a:solidFill>
                  <a:srgbClr val="610B38"/>
                </a:solidFill>
                <a:effectLst/>
                <a:latin typeface="erdana"/>
              </a:rPr>
              <a:t>UNION</a:t>
            </a:r>
          </a:p>
          <a:p>
            <a:pPr marL="0" indent="0" algn="ctr">
              <a:buNone/>
            </a:pPr>
            <a:endParaRPr lang="en-US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marL="0" indent="0" algn="ctr">
              <a:buNone/>
            </a:pPr>
            <a:endParaRPr lang="en-US" b="1" dirty="0">
              <a:solidFill>
                <a:srgbClr val="006699"/>
              </a:solidFill>
              <a:latin typeface="inter-regula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5D550-7660-4999-8E1F-24951B171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71" y="1334628"/>
            <a:ext cx="11618258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76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879988"/>
            <a:ext cx="10515600" cy="4351338"/>
          </a:xfrm>
        </p:spPr>
        <p:txBody>
          <a:bodyPr/>
          <a:lstStyle/>
          <a:p>
            <a:pPr marL="514350" indent="-514350" algn="ctr">
              <a:buAutoNum type="arabicPeriod"/>
            </a:pPr>
            <a:r>
              <a:rPr lang="en-US" b="0" i="0" u="sng" dirty="0">
                <a:solidFill>
                  <a:srgbClr val="610B38"/>
                </a:solidFill>
                <a:effectLst/>
                <a:latin typeface="erdana"/>
              </a:rPr>
              <a:t>UNION</a:t>
            </a:r>
          </a:p>
          <a:p>
            <a:pPr marL="0" indent="0" algn="ctr">
              <a:buNone/>
            </a:pPr>
            <a:endParaRPr lang="en-US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marL="0" indent="0" algn="ctr">
              <a:buNone/>
            </a:pPr>
            <a:endParaRPr lang="en-US" b="1" dirty="0">
              <a:solidFill>
                <a:srgbClr val="006699"/>
              </a:solidFill>
              <a:latin typeface="inter-regula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EB43C1-F9CE-4480-A48B-4E6A4EFE1B18}"/>
              </a:ext>
            </a:extLst>
          </p:cNvPr>
          <p:cNvSpPr txBox="1"/>
          <p:nvPr/>
        </p:nvSpPr>
        <p:spPr>
          <a:xfrm>
            <a:off x="1216958" y="2205551"/>
            <a:ext cx="86935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Example 2: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Write a query to find the student details from both table t_students and the table t2_students.</a:t>
            </a:r>
          </a:p>
        </p:txBody>
      </p:sp>
    </p:spTree>
    <p:extLst>
      <p:ext uri="{BB962C8B-B14F-4D97-AF65-F5344CB8AC3E}">
        <p14:creationId xmlns:p14="http://schemas.microsoft.com/office/powerpoint/2010/main" val="849886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879988"/>
            <a:ext cx="10515600" cy="4351338"/>
          </a:xfrm>
        </p:spPr>
        <p:txBody>
          <a:bodyPr/>
          <a:lstStyle/>
          <a:p>
            <a:pPr marL="514350" indent="-514350" algn="ctr">
              <a:buAutoNum type="arabicPeriod"/>
            </a:pPr>
            <a:r>
              <a:rPr lang="en-US" b="0" i="0" u="sng" dirty="0">
                <a:solidFill>
                  <a:srgbClr val="610B38"/>
                </a:solidFill>
                <a:effectLst/>
                <a:latin typeface="erdana"/>
              </a:rPr>
              <a:t>UNION</a:t>
            </a:r>
          </a:p>
          <a:p>
            <a:pPr marL="0" indent="0" algn="ctr">
              <a:buNone/>
            </a:pPr>
            <a:endParaRPr lang="en-US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marL="0" indent="0" algn="ctr">
              <a:buNone/>
            </a:pPr>
            <a:endParaRPr lang="en-US" b="1" dirty="0">
              <a:solidFill>
                <a:srgbClr val="006699"/>
              </a:solidFill>
              <a:latin typeface="inter-regula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EB43C1-F9CE-4480-A48B-4E6A4EFE1B18}"/>
              </a:ext>
            </a:extLst>
          </p:cNvPr>
          <p:cNvSpPr txBox="1"/>
          <p:nvPr/>
        </p:nvSpPr>
        <p:spPr>
          <a:xfrm>
            <a:off x="1216958" y="2205551"/>
            <a:ext cx="86935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*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t_students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UNION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*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t2_students;  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4101034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879988"/>
            <a:ext cx="10515600" cy="4351338"/>
          </a:xfrm>
        </p:spPr>
        <p:txBody>
          <a:bodyPr/>
          <a:lstStyle/>
          <a:p>
            <a:pPr marL="514350" indent="-514350" algn="ctr">
              <a:buAutoNum type="arabicPeriod"/>
            </a:pPr>
            <a:r>
              <a:rPr lang="en-US" b="0" i="0" u="sng" dirty="0">
                <a:solidFill>
                  <a:srgbClr val="610B38"/>
                </a:solidFill>
                <a:effectLst/>
                <a:latin typeface="erdana"/>
              </a:rPr>
              <a:t>UNION</a:t>
            </a:r>
          </a:p>
          <a:p>
            <a:pPr marL="0" indent="0" algn="ctr">
              <a:buNone/>
            </a:pPr>
            <a:endParaRPr lang="en-US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marL="0" indent="0" algn="ctr">
              <a:buNone/>
            </a:pPr>
            <a:endParaRPr lang="en-US" b="1" dirty="0">
              <a:solidFill>
                <a:srgbClr val="006699"/>
              </a:solidFill>
              <a:latin typeface="inter-regula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4FD398-9144-4E16-88D6-BABCA2988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3776"/>
            <a:ext cx="11712388" cy="526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813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052" y="1299498"/>
            <a:ext cx="11504124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0" i="0" u="sng" dirty="0">
                <a:solidFill>
                  <a:srgbClr val="610B38"/>
                </a:solidFill>
                <a:effectLst/>
                <a:latin typeface="erdana"/>
              </a:rPr>
              <a:t>2. UNION ALL</a:t>
            </a:r>
          </a:p>
          <a:p>
            <a:pPr marL="0" indent="0">
              <a:buNone/>
            </a:pPr>
            <a:endParaRPr lang="en-US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Includes Duplicates: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The UNION ALL operator includes all rows from the combined result set, including duplicates.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This means that if a row appears in more than one of the SELECT queries, it will appear as many times as it occurs.</a:t>
            </a:r>
          </a:p>
          <a:p>
            <a:pPr marL="0" indent="0">
              <a:buNone/>
            </a:pPr>
            <a:endParaRPr lang="en-US" b="1" dirty="0">
              <a:solidFill>
                <a:srgbClr val="006699"/>
              </a:solidFill>
              <a:latin typeface="inter-regula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2C1B10-87EE-49F6-A54D-DA7F2A41501A}"/>
              </a:ext>
            </a:extLst>
          </p:cNvPr>
          <p:cNvSpPr txBox="1"/>
          <p:nvPr/>
        </p:nvSpPr>
        <p:spPr>
          <a:xfrm>
            <a:off x="1788459" y="4921188"/>
            <a:ext cx="8222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*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t_students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UNION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>
                <a:solidFill>
                  <a:srgbClr val="808080"/>
                </a:solidFill>
                <a:effectLst/>
                <a:latin typeface="inter-regular"/>
              </a:rPr>
              <a:t>ALL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*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t2_students;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3944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879988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b="0" i="0" u="sng" dirty="0">
                <a:solidFill>
                  <a:srgbClr val="610B38"/>
                </a:solidFill>
                <a:effectLst/>
                <a:latin typeface="erdana"/>
              </a:rPr>
              <a:t>2. UNION ALL</a:t>
            </a:r>
          </a:p>
          <a:p>
            <a:pPr marL="0" indent="0" algn="ctr">
              <a:buNone/>
            </a:pPr>
            <a:endParaRPr lang="en-US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marL="0" indent="0" algn="ctr">
              <a:buNone/>
            </a:pPr>
            <a:endParaRPr lang="en-US" b="1" dirty="0">
              <a:solidFill>
                <a:srgbClr val="006699"/>
              </a:solidFill>
              <a:latin typeface="inter-regula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3953CD-BBC4-4AE0-8A58-F9C3F5C4E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48" y="1349117"/>
            <a:ext cx="10740228" cy="544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487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1072123"/>
            <a:ext cx="11654117" cy="435133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0" i="0" u="sng" dirty="0">
                <a:solidFill>
                  <a:srgbClr val="610B38"/>
                </a:solidFill>
                <a:effectLst/>
                <a:latin typeface="erdana"/>
              </a:rPr>
              <a:t>3. INTERSECT</a:t>
            </a: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  <a:p>
            <a:pPr marL="0" indent="0" algn="ctr">
              <a:buNone/>
            </a:pP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is used to combine two SELECT statements, but it only returns the records which are common from both SELECT statements.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inter-regular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Example 1: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Write a query to perform intersect operation between the table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t_employees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and the table t2_employees.</a:t>
            </a:r>
          </a:p>
        </p:txBody>
      </p:sp>
    </p:spTree>
    <p:extLst>
      <p:ext uri="{BB962C8B-B14F-4D97-AF65-F5344CB8AC3E}">
        <p14:creationId xmlns:p14="http://schemas.microsoft.com/office/powerpoint/2010/main" val="775028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1072123"/>
            <a:ext cx="11654117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0" i="0" u="sng" dirty="0">
                <a:solidFill>
                  <a:srgbClr val="610B38"/>
                </a:solidFill>
                <a:effectLst/>
                <a:latin typeface="erdana"/>
              </a:rPr>
              <a:t>3. INTERSECT</a:t>
            </a: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  <a:p>
            <a:pPr marL="0" indent="0" algn="ctr">
              <a:buNone/>
            </a:pPr>
            <a:endParaRPr lang="en-US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marL="0" indent="0" algn="ctr">
              <a:buNone/>
            </a:pPr>
            <a:endParaRPr lang="en-US" b="1" dirty="0">
              <a:solidFill>
                <a:srgbClr val="006699"/>
              </a:solidFill>
              <a:latin typeface="inter-regular"/>
            </a:endParaRPr>
          </a:p>
          <a:p>
            <a:pPr marL="0" indent="0" algn="ctr">
              <a:buNone/>
            </a:pP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*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t_employees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INTERSECT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*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t2_employees;  </a:t>
            </a: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</p:txBody>
      </p:sp>
    </p:spTree>
    <p:extLst>
      <p:ext uri="{BB962C8B-B14F-4D97-AF65-F5344CB8AC3E}">
        <p14:creationId xmlns:p14="http://schemas.microsoft.com/office/powerpoint/2010/main" val="913883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1072123"/>
            <a:ext cx="11654117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0" i="0" u="sng" dirty="0">
                <a:solidFill>
                  <a:srgbClr val="610B38"/>
                </a:solidFill>
                <a:effectLst/>
                <a:latin typeface="erdana"/>
              </a:rPr>
              <a:t>3. INTERSECT</a:t>
            </a: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  <a:p>
            <a:pPr marL="0" indent="0" algn="ctr">
              <a:buNone/>
            </a:pPr>
            <a:endParaRPr lang="en-US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marL="0" indent="0" algn="ctr">
              <a:buNone/>
            </a:pPr>
            <a:endParaRPr lang="en-US" b="1" dirty="0">
              <a:solidFill>
                <a:srgbClr val="006699"/>
              </a:solidFill>
              <a:latin typeface="inter-regular"/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7922D6-8B07-4AE5-852C-741546F96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86" y="2063428"/>
            <a:ext cx="10686990" cy="286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491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1072123"/>
            <a:ext cx="11654117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0" i="0" u="sng" dirty="0">
                <a:solidFill>
                  <a:srgbClr val="610B38"/>
                </a:solidFill>
                <a:effectLst/>
                <a:latin typeface="erdana"/>
              </a:rPr>
              <a:t>3. INTERSECT</a:t>
            </a: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  <a:p>
            <a:pPr marL="0" indent="0" algn="ctr">
              <a:buNone/>
            </a:pPr>
            <a:endParaRPr lang="en-US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marL="0" indent="0" algn="ctr">
              <a:buNone/>
            </a:pPr>
            <a:endParaRPr lang="en-US" b="1" dirty="0">
              <a:solidFill>
                <a:srgbClr val="006699"/>
              </a:solidFill>
              <a:latin typeface="inter-regular"/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2956B5-C056-49CD-A41D-824DD7162BD2}"/>
              </a:ext>
            </a:extLst>
          </p:cNvPr>
          <p:cNvSpPr txBox="1"/>
          <p:nvPr/>
        </p:nvSpPr>
        <p:spPr>
          <a:xfrm>
            <a:off x="1472453" y="2671500"/>
            <a:ext cx="8451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Example 2: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Write a query to perform intersect operation between the table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t_students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and the table t2_students.</a:t>
            </a:r>
          </a:p>
        </p:txBody>
      </p:sp>
    </p:spTree>
    <p:extLst>
      <p:ext uri="{BB962C8B-B14F-4D97-AF65-F5344CB8AC3E}">
        <p14:creationId xmlns:p14="http://schemas.microsoft.com/office/powerpoint/2010/main" val="1462073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1072123"/>
            <a:ext cx="11654117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0" i="0" u="sng" dirty="0">
                <a:solidFill>
                  <a:srgbClr val="610B38"/>
                </a:solidFill>
                <a:effectLst/>
                <a:latin typeface="erdana"/>
              </a:rPr>
              <a:t>3. INTERSECT</a:t>
            </a: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  <a:p>
            <a:pPr marL="0" indent="0" algn="ctr">
              <a:buNone/>
            </a:pPr>
            <a:endParaRPr lang="en-US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marL="0" indent="0" algn="ctr">
              <a:buNone/>
            </a:pPr>
            <a:endParaRPr lang="en-US" b="1" dirty="0">
              <a:solidFill>
                <a:srgbClr val="006699"/>
              </a:solidFill>
              <a:latin typeface="inter-regular"/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0980FB-5FAC-4D27-A458-9AA19F9D8C8F}"/>
              </a:ext>
            </a:extLst>
          </p:cNvPr>
          <p:cNvSpPr txBox="1"/>
          <p:nvPr/>
        </p:nvSpPr>
        <p:spPr>
          <a:xfrm>
            <a:off x="1761565" y="3105835"/>
            <a:ext cx="7321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*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t_students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INTERSECT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*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t2_students; 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8870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1072123"/>
            <a:ext cx="11654117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0" i="0" u="sng" dirty="0">
                <a:solidFill>
                  <a:srgbClr val="610B38"/>
                </a:solidFill>
                <a:effectLst/>
                <a:latin typeface="erdana"/>
              </a:rPr>
              <a:t>3. INTERSECT</a:t>
            </a: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  <a:p>
            <a:pPr marL="0" indent="0" algn="ctr">
              <a:buNone/>
            </a:pPr>
            <a:endParaRPr lang="en-US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marL="0" indent="0" algn="ctr">
              <a:buNone/>
            </a:pPr>
            <a:endParaRPr lang="en-US" b="1" dirty="0">
              <a:solidFill>
                <a:srgbClr val="006699"/>
              </a:solidFill>
              <a:latin typeface="inter-regular"/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214AD1-1156-4904-AA3A-B86C97ADC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54" y="1938453"/>
            <a:ext cx="11806006" cy="384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255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1072123"/>
            <a:ext cx="11654117" cy="4351338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b="0" i="0" u="sng" dirty="0">
                <a:solidFill>
                  <a:srgbClr val="610B38"/>
                </a:solidFill>
                <a:effectLst/>
                <a:latin typeface="erdana"/>
              </a:rPr>
              <a:t>4. MINUS</a:t>
            </a: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displays the rows which are present in the first query but absent in the second query with </a:t>
            </a:r>
            <a:r>
              <a:rPr lang="en-US" b="1" i="0" dirty="0">
                <a:solidFill>
                  <a:srgbClr val="000000"/>
                </a:solidFill>
                <a:effectLst/>
                <a:latin typeface="inter-regular"/>
              </a:rPr>
              <a:t>no duplicates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inter-regular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Example 1: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Write a query to perform a minus operation between the table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t_employees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and the table t2_employees.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List the details of the employees who are present in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t_employees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but not in t2_employees</a:t>
            </a:r>
          </a:p>
          <a:p>
            <a:pPr marL="0" indent="0" algn="ctr">
              <a:buNone/>
            </a:pP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</p:txBody>
      </p:sp>
    </p:spTree>
    <p:extLst>
      <p:ext uri="{BB962C8B-B14F-4D97-AF65-F5344CB8AC3E}">
        <p14:creationId xmlns:p14="http://schemas.microsoft.com/office/powerpoint/2010/main" val="24027435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1072123"/>
            <a:ext cx="11654117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0" i="0" u="sng" dirty="0">
                <a:solidFill>
                  <a:srgbClr val="610B38"/>
                </a:solidFill>
                <a:effectLst/>
                <a:latin typeface="erdana"/>
              </a:rPr>
              <a:t>4. MINUS</a:t>
            </a: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0" indent="0" algn="ctr">
              <a:buNone/>
            </a:pP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*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t_employees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MINUS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*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t2_employees;  </a:t>
            </a: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</p:txBody>
      </p:sp>
    </p:spTree>
    <p:extLst>
      <p:ext uri="{BB962C8B-B14F-4D97-AF65-F5344CB8AC3E}">
        <p14:creationId xmlns:p14="http://schemas.microsoft.com/office/powerpoint/2010/main" val="2559029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1072123"/>
            <a:ext cx="11654117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0" i="0" u="sng" dirty="0">
                <a:solidFill>
                  <a:srgbClr val="610B38"/>
                </a:solidFill>
                <a:effectLst/>
                <a:latin typeface="erdana"/>
              </a:rPr>
              <a:t>4. MINUS</a:t>
            </a: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F7D4F5-C06D-4111-BFE8-D20A7CC2B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52" y="2014132"/>
            <a:ext cx="10449276" cy="357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33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1072123"/>
            <a:ext cx="11654117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0" i="0" u="sng" dirty="0">
                <a:solidFill>
                  <a:srgbClr val="610B38"/>
                </a:solidFill>
                <a:effectLst/>
                <a:latin typeface="erdana"/>
              </a:rPr>
              <a:t>4. MINUS</a:t>
            </a: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3C5262-2505-47BE-944E-25C1272A6DB7}"/>
              </a:ext>
            </a:extLst>
          </p:cNvPr>
          <p:cNvSpPr txBox="1"/>
          <p:nvPr/>
        </p:nvSpPr>
        <p:spPr>
          <a:xfrm>
            <a:off x="2857500" y="3244334"/>
            <a:ext cx="6225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*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t_students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MINUS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*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t2_students; 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3444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740-4359-4122-BB3A-5E6F358E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20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SET Operators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1157-6BE8-4564-AC4F-847F10C3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1072123"/>
            <a:ext cx="11654117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0" i="0" u="sng" dirty="0">
                <a:solidFill>
                  <a:srgbClr val="610B38"/>
                </a:solidFill>
                <a:effectLst/>
                <a:latin typeface="erdana"/>
              </a:rPr>
              <a:t>4. MINUS</a:t>
            </a:r>
            <a:endParaRPr lang="en-US" b="0" i="0" dirty="0">
              <a:solidFill>
                <a:srgbClr val="610B38"/>
              </a:solidFill>
              <a:effectLst/>
              <a:latin typeface="erdana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75729C-564F-4E63-9714-0FF59293B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66" y="2124216"/>
            <a:ext cx="10180942" cy="281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974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496</Words>
  <Application>Microsoft Office PowerPoint</Application>
  <PresentationFormat>Widescreen</PresentationFormat>
  <Paragraphs>101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erdana</vt:lpstr>
      <vt:lpstr>inter-bold</vt:lpstr>
      <vt:lpstr>inter-regular</vt:lpstr>
      <vt:lpstr>Office Theme</vt:lpstr>
      <vt:lpstr>SET Operators </vt:lpstr>
      <vt:lpstr>SET Operators </vt:lpstr>
      <vt:lpstr>PowerPoint Presentation</vt:lpstr>
      <vt:lpstr>PowerPoint Presentation</vt:lpstr>
      <vt:lpstr>PowerPoint Presentation</vt:lpstr>
      <vt:lpstr>PowerPoint Presentation</vt:lpstr>
      <vt:lpstr>SET Operators </vt:lpstr>
      <vt:lpstr>SET Operators </vt:lpstr>
      <vt:lpstr>SET Operators </vt:lpstr>
      <vt:lpstr>SET Operators </vt:lpstr>
      <vt:lpstr>SET Operators </vt:lpstr>
      <vt:lpstr>SET Operators </vt:lpstr>
      <vt:lpstr>SET Operators </vt:lpstr>
      <vt:lpstr>SET Operators </vt:lpstr>
      <vt:lpstr>SET Operators </vt:lpstr>
      <vt:lpstr>SET Operators </vt:lpstr>
      <vt:lpstr>SET Operators </vt:lpstr>
      <vt:lpstr>SET Operators </vt:lpstr>
      <vt:lpstr>SET Operators </vt:lpstr>
      <vt:lpstr>SET Operators </vt:lpstr>
      <vt:lpstr>SET Operators </vt:lpstr>
      <vt:lpstr>SET Operators </vt:lpstr>
      <vt:lpstr>SET Operators </vt:lpstr>
      <vt:lpstr>SET Operators </vt:lpstr>
      <vt:lpstr>SET Operators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 Operators </dc:title>
  <dc:creator>SHIRLEY</dc:creator>
  <cp:lastModifiedBy>Jeff Rin</cp:lastModifiedBy>
  <cp:revision>8</cp:revision>
  <dcterms:created xsi:type="dcterms:W3CDTF">2023-08-08T07:49:19Z</dcterms:created>
  <dcterms:modified xsi:type="dcterms:W3CDTF">2025-09-01T04:57:50Z</dcterms:modified>
</cp:coreProperties>
</file>